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528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_MASTER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3291840" cy="3291840"/>
          </a:xfrm>
          <a:prstGeom prst="ellipse">
            <a:avLst/>
          </a:prstGeom>
          <a:solidFill>
            <a:srgbClr val="E6002D"/>
          </a:solidFill>
          <a:ln/>
        </p:spPr>
      </p:sp>
      <p:pic>
        <p:nvPicPr>
          <p:cNvPr id="3" name="Image 0" descr="/home/claude/project/icons/bar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148840"/>
            <a:ext cx="1005840" cy="1005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61320" y="4160520"/>
            <a:ext cx="1051560" cy="1051560"/>
          </a:xfrm>
          <a:prstGeom prst="ellipse">
            <a:avLst/>
          </a:prstGeom>
          <a:solidFill>
            <a:srgbClr val="1E2F52"/>
          </a:solidFill>
          <a:ln w="12700">
            <a:solidFill>
              <a:srgbClr val="2B3E66"/>
            </a:solidFill>
            <a:prstDash val="solid"/>
          </a:ln>
        </p:spPr>
      </p:sp>
      <p:pic>
        <p:nvPicPr>
          <p:cNvPr id="5" name="Image 1" descr="/home/claude/project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3928" y="4453128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물류센터 DX 제안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22960" y="23317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회송리스트 자동화 앱</a:t>
            </a:r>
            <a:endParaRPr lang="en-US" sz="42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822960" y="34290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IPR바코드 스캔 한 번으로, 회송리스트가 자동으로 업데이트됩니다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쿠팡풀필먼트서비스 3PL센터  ·  롯데글로벌로지스  ·  2026.08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상황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지금은 이렇게 처리하고 있습니다</a:t>
            </a:r>
            <a:endParaRPr lang="en-US" sz="30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회송대상 상품을 수기로 기록하다 보니, 아래와 같은 어려움이 반복됩니다.</a:t>
            </a:r>
            <a:endParaRPr lang="en-US" sz="13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246120" cy="356616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177800" dist="63500" dir="5400000" algn="bl" rotWithShape="0">
              <a:srgbClr val="1320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20240" y="2308860"/>
            <a:ext cx="1051560" cy="10515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7" name="Image 0" descr="/home/claude/project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770" y="2666390"/>
            <a:ext cx="336499" cy="3364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8" name="Text 5"/>
          <p:cNvSpPr/>
          <p:nvPr/>
        </p:nvSpPr>
        <p:spPr>
          <a:xfrm>
            <a:off x="1051560" y="3566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시간 소요</a:t>
            </a:r>
            <a:endParaRPr lang="en-US" sz="17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97280" y="40690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작업자가 수기로 기록하고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담당자가 다시 옮겨 적는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이중 작업이 발생합니다.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89120" y="1965960"/>
            <a:ext cx="3246120" cy="356616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177800" dist="63500" dir="5400000" algn="bl" rotWithShape="0">
              <a:srgbClr val="13203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0" y="2308860"/>
            <a:ext cx="1051560" cy="10515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12" name="Image 1" descr="/home/claude/project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930" y="2666390"/>
            <a:ext cx="336499" cy="3364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13" name="Text 9"/>
          <p:cNvSpPr/>
          <p:nvPr/>
        </p:nvSpPr>
        <p:spPr>
          <a:xfrm>
            <a:off x="4617720" y="3566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오류 위험</a:t>
            </a:r>
            <a:endParaRPr lang="en-US" sz="17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663440" y="40690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수기 기록 특성상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바코드 누락·오기입 등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실수가 발생하기 쉽습니다.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955280" y="1965960"/>
            <a:ext cx="3246120" cy="356616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177800" dist="63500" dir="5400000" algn="bl" rotWithShape="0">
              <a:srgbClr val="13203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052560" y="2308860"/>
            <a:ext cx="1051560" cy="10515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17" name="Image 2" descr="/home/claude/project/icons/eyesl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0090" y="2666390"/>
            <a:ext cx="336499" cy="3364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18" name="Text 13"/>
          <p:cNvSpPr/>
          <p:nvPr/>
        </p:nvSpPr>
        <p:spPr>
          <a:xfrm>
            <a:off x="8183880" y="3566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실시간 파악 어려움</a:t>
            </a:r>
            <a:endParaRPr lang="en-US" sz="17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229600" y="40690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처리 현황이 즉시 반영되지 않아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현재 상태를 바로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확인하기 어렵습니다.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롯데글로벌로지스  ·  회송리스트 자동화 앱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002D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개념 소개</a:t>
            </a:r>
            <a:endParaRPr lang="en-US" sz="12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무엇이 바뀌나요?</a:t>
            </a:r>
            <a:endParaRPr lang="en-US" sz="30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618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기존 방식</a:t>
            </a:r>
            <a:endParaRPr lang="en-US" sz="16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20574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수기로 회송상품 정보 기록</a:t>
            </a:r>
            <a:endParaRPr lang="en-US" sz="13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작업 종료 후 별도로 시트에 재입력</a:t>
            </a:r>
            <a:endParaRPr lang="en-US" sz="13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담당자 취합 과정에서 시간 소요 및 누락 가능성</a:t>
            </a:r>
            <a:endParaRPr lang="en-US" sz="13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13203B"/>
          </a:solidFill>
          <a:ln/>
          <a:effectLst>
            <a:outerShdw blurRad="203200" dist="76200" dir="5400000" algn="bl" rotWithShape="0">
              <a:srgbClr val="13203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618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002D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새로운 방식</a:t>
            </a:r>
            <a:endParaRPr lang="en-US" sz="16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0" y="20574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PDA·휴대폰으로 IPR바코드 스캔</a:t>
            </a:r>
            <a:endParaRPr lang="en-US" sz="13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스캔 즉시 구글시트에 자동 반영</a:t>
            </a:r>
            <a:endParaRPr lang="en-US" sz="13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처리 현황을 앱에서 바로 확인</a:t>
            </a:r>
            <a:endParaRPr lang="en-US" sz="13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처리 흐름은 세 단계로 단순합니다</a:t>
            </a:r>
            <a:endParaRPr lang="en-US" sz="15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920240" y="4617720"/>
            <a:ext cx="1005840" cy="10058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12" name="Image 0" descr="/home/claude/project/icons/bar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226" y="4959706"/>
            <a:ext cx="321869" cy="3218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13" name="Text 10"/>
          <p:cNvSpPr/>
          <p:nvPr/>
        </p:nvSpPr>
        <p:spPr>
          <a:xfrm>
            <a:off x="1325880" y="58084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IPR바코드 스캔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063240" y="4992624"/>
            <a:ext cx="1965960" cy="256032"/>
          </a:xfrm>
          <a:prstGeom prst="rightArrow">
            <a:avLst/>
          </a:prstGeom>
          <a:solidFill>
            <a:srgbClr val="C7CEDB"/>
          </a:solidFill>
          <a:ln/>
        </p:spPr>
      </p:sp>
      <p:sp>
        <p:nvSpPr>
          <p:cNvPr id="15" name="Shape 12"/>
          <p:cNvSpPr/>
          <p:nvPr/>
        </p:nvSpPr>
        <p:spPr>
          <a:xfrm>
            <a:off x="5166360" y="4617720"/>
            <a:ext cx="1005840" cy="10058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16" name="Image 1" descr="/home/claude/project/icons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957" y="4944002"/>
            <a:ext cx="321869" cy="3218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17" name="Text 13"/>
          <p:cNvSpPr/>
          <p:nvPr/>
        </p:nvSpPr>
        <p:spPr>
          <a:xfrm>
            <a:off x="4572000" y="5760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앱에서 처리유형 선택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309360" y="4992624"/>
            <a:ext cx="1965960" cy="256032"/>
          </a:xfrm>
          <a:prstGeom prst="rightArrow">
            <a:avLst/>
          </a:prstGeom>
          <a:solidFill>
            <a:srgbClr val="C7CEDB"/>
          </a:solidFill>
          <a:ln/>
        </p:spPr>
      </p:sp>
      <p:sp>
        <p:nvSpPr>
          <p:cNvPr id="19" name="Shape 15"/>
          <p:cNvSpPr/>
          <p:nvPr/>
        </p:nvSpPr>
        <p:spPr>
          <a:xfrm>
            <a:off x="8412480" y="4617720"/>
            <a:ext cx="1005840" cy="10058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20" name="Image 2" descr="/home/claude/project/icons/she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4466" y="4959706"/>
            <a:ext cx="321869" cy="32186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818120" y="5760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구글시트 자동 반영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ACBB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롯데글로벌로지스  ·  회송리스트 자동화 앱</a:t>
            </a:r>
            <a:endParaRPr lang="en-US" sz="9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CBB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3</a:t>
            </a:r>
            <a:endParaRPr lang="en-US" sz="9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777240"/>
            <a:ext cx="2651252" cy="5349240"/>
          </a:xfrm>
          <a:prstGeom prst="roundRect">
            <a:avLst>
              <a:gd name="adj" fmla="val 5518"/>
            </a:avLst>
          </a:prstGeom>
          <a:solidFill>
            <a:srgbClr val="FFFFFF"/>
          </a:solidFill>
          <a:ln w="12700">
            <a:solidFill>
              <a:srgbClr val="DADFE7"/>
            </a:solidFill>
            <a:prstDash val="solid"/>
          </a:ln>
          <a:effectLst>
            <a:outerShdw blurRad="203200" dist="76200" dir="5400000" algn="bl" rotWithShape="0">
              <a:srgbClr val="0B1220">
                <a:alpha val="28000"/>
              </a:srgbClr>
            </a:outerShdw>
          </a:effectLst>
        </p:spPr>
      </p:sp>
      <p:pic>
        <p:nvPicPr>
          <p:cNvPr id="3" name="Image 0" descr="/home/claude/project/ppt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868680"/>
            <a:ext cx="2468372" cy="5166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· 시작 화면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2960" y="868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시작은 아주 간단합니다</a:t>
            </a:r>
            <a:endParaRPr lang="en-US" sz="28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E6002D"/>
          </a:solidFill>
          <a:ln/>
        </p:spPr>
      </p:sp>
      <p:pic>
        <p:nvPicPr>
          <p:cNvPr id="7" name="Image 1" descr="/home/claude/project/icons/sign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206" y="220004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이름 · VF ID 입력</a:t>
            </a:r>
            <a:endParaRPr lang="en-US" sz="15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1874520" y="2423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별도 계정 발급 없이, 이름과 VF ID만 입력하면 바로 시작할 수 있습니다.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914400" y="3099816"/>
            <a:ext cx="822960" cy="8229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11" name="Image 2" descr="/home/claude/project/icons/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040" y="3393379"/>
            <a:ext cx="263347" cy="2633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7452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처음 쓰는 단기 인력도 OK</a:t>
            </a:r>
            <a:endParaRPr lang="en-US" sz="15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874520" y="3520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설치 절차 없이 화면을 열면 바로 사용할 수 있는 앱 형태로 제공됩니다.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822960" y="4709160"/>
            <a:ext cx="6537960" cy="1051560"/>
          </a:xfrm>
          <a:prstGeom prst="roundRect">
            <a:avLst>
              <a:gd name="adj" fmla="val 10435"/>
            </a:avLst>
          </a:prstGeom>
          <a:solidFill>
            <a:srgbClr val="FDEAEA"/>
          </a:solidFill>
          <a:ln/>
        </p:spPr>
      </p:sp>
      <p:sp>
        <p:nvSpPr>
          <p:cNvPr id="15" name="Text 10"/>
          <p:cNvSpPr/>
          <p:nvPr/>
        </p:nvSpPr>
        <p:spPr>
          <a:xfrm>
            <a:off x="1097279" y="4892040"/>
            <a:ext cx="61781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0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입력한 이름은 화면 상단에 계속 표시되어, 누가 처리했는지 언제든 확인할 수 있습니다.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롯데글로벌로지스  ·  회송리스트 자동화 앱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77240"/>
            <a:ext cx="2651252" cy="5349240"/>
          </a:xfrm>
          <a:prstGeom prst="roundRect">
            <a:avLst>
              <a:gd name="adj" fmla="val 5518"/>
            </a:avLst>
          </a:prstGeom>
          <a:solidFill>
            <a:srgbClr val="FFFFFF"/>
          </a:solidFill>
          <a:ln w="12700">
            <a:solidFill>
              <a:srgbClr val="DADFE7"/>
            </a:solidFill>
            <a:prstDash val="solid"/>
          </a:ln>
          <a:effectLst>
            <a:outerShdw blurRad="203200" dist="76200" dir="5400000" algn="bl" rotWithShape="0">
              <a:srgbClr val="0B1220">
                <a:alpha val="28000"/>
              </a:srgbClr>
            </a:outerShdw>
          </a:effectLst>
        </p:spPr>
      </p:sp>
      <p:pic>
        <p:nvPicPr>
          <p:cNvPr id="3" name="Image 0" descr="/home/claude/project/ppt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68680"/>
            <a:ext cx="2468372" cy="5166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916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002D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STEP 1 · 홈 화면</a:t>
            </a:r>
            <a:endParaRPr lang="en-US" sz="12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4709160" y="12344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홈 화면에서 작업 종류를 고릅니다</a:t>
            </a:r>
            <a:endParaRPr lang="en-US" sz="27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732020" y="2308860"/>
            <a:ext cx="868680" cy="8686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7" name="Image 1" descr="/home/claude/project/icons/tr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7371" y="2604211"/>
            <a:ext cx="277978" cy="27797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8" name="Text 4"/>
          <p:cNvSpPr/>
          <p:nvPr/>
        </p:nvSpPr>
        <p:spPr>
          <a:xfrm>
            <a:off x="57607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폐기</a:t>
            </a:r>
            <a:endParaRPr lang="en-US" sz="17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5760720" y="27157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폐기차량 정보를 입력하고 IPR바코드를 스캔합니다.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732020" y="3497580"/>
            <a:ext cx="868680" cy="8686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11" name="Image 2" descr="/home/claude/project/icons/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7371" y="3792931"/>
            <a:ext cx="277978" cy="27797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12" name="Text 7"/>
          <p:cNvSpPr/>
          <p:nvPr/>
        </p:nvSpPr>
        <p:spPr>
          <a:xfrm>
            <a:off x="576072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회송</a:t>
            </a:r>
            <a:endParaRPr lang="en-US" sz="17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760720" y="39044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업체가 직접 가져가는 경우와 택배로 보내는 경우로 나뉩니다.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732020" y="4686300"/>
            <a:ext cx="868680" cy="8686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15" name="Image 3" descr="/home/claude/project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7371" y="4981651"/>
            <a:ext cx="277978" cy="27797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16" name="Text 10"/>
          <p:cNvSpPr/>
          <p:nvPr/>
        </p:nvSpPr>
        <p:spPr>
          <a:xfrm>
            <a:off x="576072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조회</a:t>
            </a:r>
            <a:endParaRPr lang="en-US" sz="17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5760720" y="50932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IPR바코드 스캔 한 번으로 상품 상태를 바로 확인합니다.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롯데글로벌로지스  ·  회송리스트 자동화 앱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777240"/>
            <a:ext cx="2651252" cy="5349240"/>
          </a:xfrm>
          <a:prstGeom prst="roundRect">
            <a:avLst>
              <a:gd name="adj" fmla="val 5518"/>
            </a:avLst>
          </a:prstGeom>
          <a:solidFill>
            <a:srgbClr val="FFFFFF"/>
          </a:solidFill>
          <a:ln w="12700">
            <a:solidFill>
              <a:srgbClr val="DADFE7"/>
            </a:solidFill>
            <a:prstDash val="solid"/>
          </a:ln>
          <a:effectLst>
            <a:outerShdw blurRad="203200" dist="76200" dir="5400000" algn="bl" rotWithShape="0">
              <a:srgbClr val="0B1220">
                <a:alpha val="28000"/>
              </a:srgbClr>
            </a:outerShdw>
          </a:effectLst>
        </p:spPr>
      </p:sp>
      <p:pic>
        <p:nvPicPr>
          <p:cNvPr id="3" name="Image 0" descr="/home/claude/project/ppt_dis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868680"/>
            <a:ext cx="2468372" cy="5166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002D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기능 1</a:t>
            </a:r>
            <a:endParaRPr lang="en-US" sz="12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8686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폐기 처리</a:t>
            </a:r>
            <a:endParaRPr lang="en-US" sz="30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1508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D+6이 지나 폐기가 확정된 상품을 3단계로 처리합니다.</a:t>
            </a:r>
            <a:endParaRPr lang="en-US" sz="13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E6002D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1</a:t>
            </a:r>
            <a:endParaRPr lang="en-US" sz="16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1508760" y="2286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폐기차량 정보 입력</a:t>
            </a:r>
            <a:endParaRPr lang="en-US" sz="15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508760" y="26517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차량 사진 촬영, 차량번호·접안시간·발차시간 입력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E6002D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2</a:t>
            </a:r>
            <a:endParaRPr lang="en-US" sz="16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508760" y="3337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IPR바코드 스캔</a:t>
            </a:r>
            <a:endParaRPr lang="en-US" sz="15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508760" y="37033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폐기 대상 상품의 IPR바코드를 여러 건 연속으로 스캔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E6002D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3</a:t>
            </a:r>
            <a:endParaRPr lang="en-US" sz="16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508760" y="4389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폐기처리 완료</a:t>
            </a:r>
            <a:endParaRPr lang="en-US" sz="15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508760" y="47548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버튼 한 번으로 구글시트에 처리일과 처리결과가 자동 기록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롯데글로벌로지스  ·  회송리스트 자동화 앱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002D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기능 2</a:t>
            </a:r>
            <a:endParaRPr lang="en-US" sz="12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회송 처리</a:t>
            </a:r>
            <a:endParaRPr lang="en-US" sz="30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회수 방식에 따라 두 가지 경로 중 하나를 선택합니다.</a:t>
            </a:r>
            <a:endParaRPr lang="en-US" sz="13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400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674620"/>
            <a:ext cx="822960" cy="8229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7" name="Image 0" descr="/home/claude/project/icons/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526" y="2954426"/>
            <a:ext cx="263347" cy="26334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8" name="Text 5"/>
          <p:cNvSpPr/>
          <p:nvPr/>
        </p:nvSpPr>
        <p:spPr>
          <a:xfrm>
            <a:off x="2148840" y="2359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업체회송</a:t>
            </a:r>
            <a:endParaRPr lang="en-US" sz="16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2148840" y="27889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차량정보(차량번호·접안·발차시간)를 입력한 뒤,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IPR바코드를 여러 건 스캔하고 완료 버튼을 누릅니다.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2960" y="4389120"/>
            <a:ext cx="6400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8720" y="4960620"/>
            <a:ext cx="822960" cy="8229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12" name="Image 1" descr="/home/claude/project/icons/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526" y="5240426"/>
            <a:ext cx="263347" cy="26334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13" name="Text 9"/>
          <p:cNvSpPr/>
          <p:nvPr/>
        </p:nvSpPr>
        <p:spPr>
          <a:xfrm>
            <a:off x="2148840" y="4645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택배회송</a:t>
            </a:r>
            <a:endParaRPr lang="en-US" sz="16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2148840" y="50749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IPR바코드를 스캔한 뒤 이어서 운송장번호를 스캔합니다.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두 값이 쌍으로 묶여 자동 기록됩니다.</a:t>
            </a:r>
            <a:endParaRPr lang="en-US" sz="12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863840" y="685800"/>
            <a:ext cx="1493520" cy="2926080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12700">
            <a:solidFill>
              <a:srgbClr val="DADFE7"/>
            </a:solidFill>
            <a:prstDash val="solid"/>
          </a:ln>
          <a:effectLst>
            <a:outerShdw blurRad="203200" dist="76200" dir="5400000" algn="bl" rotWithShape="0">
              <a:srgbClr val="0B1220">
                <a:alpha val="28000"/>
              </a:srgbClr>
            </a:outerShdw>
          </a:effectLst>
        </p:spPr>
      </p:sp>
      <p:pic>
        <p:nvPicPr>
          <p:cNvPr id="16" name="Image 2" descr="/home/claude/project/ppt_return_sel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777240"/>
            <a:ext cx="1310640" cy="27432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738360" y="685800"/>
            <a:ext cx="1493520" cy="2926080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12700">
            <a:solidFill>
              <a:srgbClr val="DADFE7"/>
            </a:solidFill>
            <a:prstDash val="solid"/>
          </a:ln>
          <a:effectLst>
            <a:outerShdw blurRad="203200" dist="76200" dir="5400000" algn="bl" rotWithShape="0">
              <a:srgbClr val="0B1220">
                <a:alpha val="28000"/>
              </a:srgbClr>
            </a:outerShdw>
          </a:effectLst>
        </p:spPr>
      </p:sp>
      <p:pic>
        <p:nvPicPr>
          <p:cNvPr id="18" name="Image 3" descr="/home/claude/project/ppt_parc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777240"/>
            <a:ext cx="1310640" cy="2743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롯데글로벌로지스  ·  회송리스트 자동화 앱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777240"/>
            <a:ext cx="2651252" cy="5349240"/>
          </a:xfrm>
          <a:prstGeom prst="roundRect">
            <a:avLst>
              <a:gd name="adj" fmla="val 5518"/>
            </a:avLst>
          </a:prstGeom>
          <a:solidFill>
            <a:srgbClr val="FFFFFF"/>
          </a:solidFill>
          <a:ln w="12700">
            <a:solidFill>
              <a:srgbClr val="DADFE7"/>
            </a:solidFill>
            <a:prstDash val="solid"/>
          </a:ln>
          <a:effectLst>
            <a:outerShdw blurRad="203200" dist="76200" dir="5400000" algn="bl" rotWithShape="0">
              <a:srgbClr val="0B1220">
                <a:alpha val="28000"/>
              </a:srgbClr>
            </a:outerShdw>
          </a:effectLst>
        </p:spPr>
      </p:sp>
      <p:pic>
        <p:nvPicPr>
          <p:cNvPr id="3" name="Image 0" descr="/home/claude/project/ppt_inqui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868680"/>
            <a:ext cx="2468372" cy="5166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002D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기능 3</a:t>
            </a:r>
            <a:endParaRPr lang="en-US" sz="12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8686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조회</a:t>
            </a:r>
            <a:endParaRPr lang="en-US" sz="30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1508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IPR바코드를 스캔하면 상품 정보가 즉시 화면에 표시됩니다.</a:t>
            </a:r>
            <a:endParaRPr lang="en-US" sz="13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꼭 구분해야 할 용어</a:t>
            </a:r>
            <a:endParaRPr lang="en-US" sz="15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3200400" cy="1600200"/>
          </a:xfrm>
          <a:prstGeom prst="roundRect">
            <a:avLst>
              <a:gd name="adj" fmla="val 6857"/>
            </a:avLst>
          </a:prstGeom>
          <a:solidFill>
            <a:srgbClr val="13203B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770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002D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IPR바코드</a:t>
            </a:r>
            <a:endParaRPr lang="en-US" sz="16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51560" y="31729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E9ECF3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작업자가 실제로 스캔하는 값입니다.</a:t>
            </a:r>
            <a:endParaRPr lang="en-US" sz="118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E9ECF3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폐기·회송·조회 모든 화면에서</a:t>
            </a:r>
            <a:endParaRPr lang="en-US" sz="118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E9ECF3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이 바코드를 스캔합니다.</a:t>
            </a:r>
            <a:endParaRPr lang="en-US" sz="118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069080" y="3278124"/>
            <a:ext cx="274320" cy="256032"/>
          </a:xfrm>
          <a:prstGeom prst="rightArrow">
            <a:avLst/>
          </a:prstGeom>
          <a:solidFill>
            <a:srgbClr val="C7CEDB"/>
          </a:solidFill>
          <a:ln/>
        </p:spPr>
      </p:sp>
      <p:sp>
        <p:nvSpPr>
          <p:cNvPr id="12" name="Shape 9"/>
          <p:cNvSpPr/>
          <p:nvPr/>
        </p:nvSpPr>
        <p:spPr>
          <a:xfrm>
            <a:off x="4389120" y="2606040"/>
            <a:ext cx="3200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2770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상품바코드</a:t>
            </a:r>
            <a:endParaRPr lang="en-US" sz="16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617720" y="317296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조회 결과에 참고용으로 표시되는</a:t>
            </a:r>
            <a:endParaRPr lang="en-US" sz="118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별도의 상품 식별 코드입니다.</a:t>
            </a:r>
            <a:endParaRPr lang="en-US" sz="118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스캔 대상이 아닙니다.</a:t>
            </a:r>
            <a:endParaRPr lang="en-US" sz="118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22960" y="4617720"/>
            <a:ext cx="6766560" cy="1051560"/>
          </a:xfrm>
          <a:prstGeom prst="roundRect">
            <a:avLst>
              <a:gd name="adj" fmla="val 10435"/>
            </a:avLst>
          </a:prstGeom>
          <a:solidFill>
            <a:srgbClr val="FDEAEA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477316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B8001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오류신고일 · 벤더명 · 수량 · 회수구분(택배/업체직접회수) · D+6 초과 여부도</a:t>
            </a:r>
            <a:endParaRPr lang="en-US" sz="12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B8001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조회 화면에서 함께 확인할 수 있습니다.</a:t>
            </a:r>
            <a:endParaRPr lang="en-US" sz="12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롯데글로벌로지스  ·  회송리스트 자동화 앱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0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이런 효과를 기대할 수 있습니다</a:t>
            </a:r>
            <a:endParaRPr lang="en-US" sz="30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2542032" cy="397764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177800" dist="63500" dir="5400000" algn="bl" rotWithShape="0">
              <a:srgbClr val="1320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36776" y="1874520"/>
            <a:ext cx="914400" cy="9144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6" name="Image 0" descr="/home/claude/project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72" y="21854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29260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처리시간 단축</a:t>
            </a:r>
            <a:endParaRPr lang="en-US" sz="15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05840" y="3520440"/>
            <a:ext cx="21762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수기 기록·재입력 과정이 없어져</a:t>
            </a:r>
            <a:endParaRPr lang="en-US" sz="113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작업자·담당자 모두의</a:t>
            </a:r>
            <a:endParaRPr lang="en-US" sz="113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처리시간이 줄어들 것으로 기대됩니다.</a:t>
            </a:r>
            <a:endParaRPr lang="en-US" sz="113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21024" y="1554480"/>
            <a:ext cx="2542032" cy="397764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177800" dist="63500" dir="5400000" algn="bl" rotWithShape="0">
              <a:srgbClr val="1320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874520"/>
            <a:ext cx="914400" cy="914400"/>
          </a:xfrm>
          <a:prstGeom prst="ellipse">
            <a:avLst/>
          </a:prstGeom>
          <a:solidFill>
            <a:srgbClr val="E6002D"/>
          </a:solidFill>
          <a:ln/>
        </p:spPr>
      </p:sp>
      <p:pic>
        <p:nvPicPr>
          <p:cNvPr id="11" name="Image 1" descr="/home/claude/project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21854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85616" y="29260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오류 감소</a:t>
            </a:r>
            <a:endParaRPr lang="en-US" sz="15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803904" y="3520440"/>
            <a:ext cx="21762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IPR바코드 스캔 기반으로 처리되어</a:t>
            </a:r>
            <a:endParaRPr lang="en-US" sz="113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오기입·누락 가능성이</a:t>
            </a:r>
            <a:endParaRPr lang="en-US" sz="113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낮아질 것으로 기대됩니다.</a:t>
            </a:r>
            <a:endParaRPr lang="en-US" sz="113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19088" y="1554480"/>
            <a:ext cx="2542032" cy="397764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177800" dist="63500" dir="5400000" algn="bl" rotWithShape="0">
              <a:srgbClr val="13203B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32904" y="1874520"/>
            <a:ext cx="914400" cy="9144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pic>
        <p:nvPicPr>
          <p:cNvPr id="16" name="Image 2" descr="/home/claude/project/icons/she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218541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29260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실시간 현황 파악</a:t>
            </a:r>
            <a:endParaRPr lang="en-US" sz="15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601968" y="3520440"/>
            <a:ext cx="21762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스캔 즉시 구글시트에 반영되어</a:t>
            </a:r>
            <a:endParaRPr lang="en-US" sz="113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담당자가 처리 현황을</a:t>
            </a:r>
            <a:endParaRPr lang="en-US" sz="113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바로 확인할 수 있습니다.</a:t>
            </a:r>
            <a:endParaRPr lang="en-US" sz="113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9217152" y="1554480"/>
            <a:ext cx="2542032" cy="397764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177800" dist="63500" dir="5400000" algn="bl" rotWithShape="0">
              <a:srgbClr val="13203B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30968" y="1874520"/>
            <a:ext cx="914400" cy="914400"/>
          </a:xfrm>
          <a:prstGeom prst="ellipse">
            <a:avLst/>
          </a:prstGeom>
          <a:solidFill>
            <a:srgbClr val="E6002D"/>
          </a:solidFill>
          <a:ln/>
        </p:spPr>
      </p:sp>
      <p:pic>
        <p:nvPicPr>
          <p:cNvPr id="21" name="Image 3" descr="/home/claude/project/icons/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1864" y="218541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81744" y="29260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2A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누구나 쉬운 사용성</a:t>
            </a:r>
            <a:endParaRPr lang="en-US" sz="15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400032" y="3520440"/>
            <a:ext cx="21762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단기 인력도 별도 교육 없이</a:t>
            </a:r>
            <a:endParaRPr lang="en-US" sz="113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이름·VF ID 입력만으로</a:t>
            </a:r>
            <a:endParaRPr lang="en-US" sz="113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바로 사용할 수 있습니다.</a:t>
            </a:r>
            <a:endParaRPr lang="en-US" sz="113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위 효과는 도입 목표이며, 실제 수치는 파일럿 센터 운영 이후 측정하여 공유하겠습니다.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롯데글로벌로지스  ·  회송리스트 자동화 앱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002D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다음 단계</a:t>
            </a:r>
            <a:endParaRPr lang="en-US" sz="12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이런 순서로 진행하려 합니다</a:t>
            </a:r>
            <a:endParaRPr lang="en-US" sz="28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1E2F52"/>
          </a:solidFill>
          <a:ln w="12700">
            <a:solidFill>
              <a:srgbClr val="2B3E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423160"/>
            <a:ext cx="502920" cy="502920"/>
          </a:xfrm>
          <a:prstGeom prst="ellipse">
            <a:avLst/>
          </a:prstGeom>
          <a:solidFill>
            <a:srgbClr val="E6002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1</a:t>
            </a:r>
            <a:endParaRPr lang="en-US" sz="16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74520" y="227685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오늘 공유드린 내용에 대한 의견 수렴</a:t>
            </a:r>
            <a:endParaRPr lang="en-US" sz="14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74520" y="2651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7BFD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화면 구성, 처리 절차에 대한 피드백을 받습니다.</a:t>
            </a:r>
            <a:endParaRPr lang="en-US" sz="118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38328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1E2F52"/>
          </a:solidFill>
          <a:ln w="12700">
            <a:solidFill>
              <a:srgbClr val="2B3E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657600"/>
            <a:ext cx="502920" cy="502920"/>
          </a:xfrm>
          <a:prstGeom prst="ellipse">
            <a:avLst/>
          </a:prstGeom>
          <a:solidFill>
            <a:srgbClr val="E6002D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2</a:t>
            </a:r>
            <a:endParaRPr lang="en-US" sz="16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874520" y="351129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현장 확인</a:t>
            </a:r>
            <a:endParaRPr lang="en-US" sz="14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874520" y="38862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7BFD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PDA 스캐너 동작 방식, IPR바코드·상품바코드 매핑 규칙을 확인합니다.</a:t>
            </a:r>
            <a:endParaRPr lang="en-US" sz="118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461772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1E2F52"/>
          </a:solidFill>
          <a:ln w="12700">
            <a:solidFill>
              <a:srgbClr val="2B3E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892040"/>
            <a:ext cx="502920" cy="502920"/>
          </a:xfrm>
          <a:prstGeom prst="ellipse">
            <a:avLst/>
          </a:prstGeom>
          <a:solidFill>
            <a:srgbClr val="E6002D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3</a:t>
            </a:r>
            <a:endParaRPr lang="en-US" sz="16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874520" y="474573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개발 착수 및 단일 센터 시범 운영</a:t>
            </a:r>
            <a:endParaRPr lang="en-US" sz="145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874520" y="51206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7BFD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itchFamily="34" charset="-120"/>
              </a:rPr>
              <a:t>피드백을 반영해 개발하고, 한 개 센터에서 먼저 운영해봅니다.</a:t>
            </a:r>
            <a:endParaRPr lang="en-US" sz="118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52560" y="3337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mbria" pitchFamily="34" charset="-120"/>
              </a:rPr>
              <a:t>의견 주시면 감사하겠습니다.</a:t>
            </a:r>
            <a:endParaRPr lang="en-US" sz="16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롯데글로벌로지스  ·  회송리스트 자동화 앱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626</Words>
  <Application>Microsoft Office PowerPoint</Application>
  <PresentationFormat>와이드스크린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나눔스퀘어 네오 ExtraBold</vt:lpstr>
      <vt:lpstr>맑은 고딕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김정수(롯데글로벌로지스-KAM파트)</cp:lastModifiedBy>
  <cp:revision>2</cp:revision>
  <dcterms:created xsi:type="dcterms:W3CDTF">2026-08-19T01:17:54Z</dcterms:created>
  <dcterms:modified xsi:type="dcterms:W3CDTF">2026-08-19T01:26:38Z</dcterms:modified>
</cp:coreProperties>
</file>